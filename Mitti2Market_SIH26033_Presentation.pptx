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SMART INDIA HACKATHON 2026 | PROBLEM STATEMENT: SIH26033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Mitti2Market</a:t>
            </a:r>
          </a:p>
          <a:p>
            <a:pPr>
              <a:defRPr sz="1600" b="1">
                <a:solidFill>
                  <a:srgbClr val="A7F3D0"/>
                </a:solidFill>
              </a:defRPr>
            </a:pPr>
            <a:r>
              <a:t>Demand-Driven Cooperative Produce Pooling &amp; Direct Escrow Settlement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Theme: Agriculture, FoodTech &amp; Rural Development  •  Focus: Eliminating Intermediary Margin Cuts &amp; Spoilage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749039"/>
            <a:ext cx="51206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65F46"/>
                </a:solidFill>
              </a:defRPr>
            </a:pPr>
            <a:r>
              <a:t>TEAM DETAILS &amp; WORK ALLOCATION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Team Name: [Your Team Name]  •  Institute: [Your College Name]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Lead: Full-Stack Architecture &amp; Smart Escrow Vault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AI / ML: Kuhn-Munkres Bi-Graph &amp; CVRP Route Solver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Telephony: Vernacular Hindi/Gujarati Voice IVR &amp; PBX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Computer Vision: Edge YOLOv8 Farm-Gate Produce Grading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Ground Research: Surat APMC Mandi Survey &amp; Field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3749039"/>
            <a:ext cx="5333695" cy="24688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65F46"/>
                </a:solidFill>
              </a:defRPr>
            </a:pPr>
            <a:r>
              <a:t>⭐ PRIMARY FIELD VALIDATION &amp; WORKING PROTOTYPE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📍 Backed by On-Ground Field Study at Surat APMC Mandi Yard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🧾 Documented Actual Mandi Bill proving 42% intermediary deductions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🌐 Live Deployed Prototype: https://your-app.vercel.app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⚡ Features 1-Click 90-Second Auto Demo for instant browser testing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📞 Tested with Pure Vernacular Hindi Voice IVR on 2G Keypad Phones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💻 GitHub Repository: https://github.com/himanikapadia/SIH26033-Mitti2Market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500">
                <a:solidFill>
                  <a:srgbClr val="065F46"/>
                </a:solidFill>
              </a:defRPr>
            </a:pPr>
            <a:r>
              <a:t>SLIDE 2: IDEA TITLE, PROBLEM DISCOVERY &amp; INNOVATION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Primary Evidence from Surat APMC Mandi Visit mapped directly to Mitti2Market's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100">
                <a:solidFill>
                  <a:srgbClr val="065F46"/>
                </a:solidFill>
              </a:defRPr>
            </a:pPr>
            <a:r>
              <a:t>📸 FIELD EVIDENCE FROM MANDI VISIT (INSERT PHOTOS)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33172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[ PHOTO 1: MANDI BILL ]</a:t>
            </a:r>
            <a:br/>
            <a:br/>
            <a:r>
              <a:t>🔴 Problem: Physical bill reveals 42% deduction in commission (arhat), mandi cess &amp; labor.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691640"/>
            <a:ext cx="233172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[ PHOTO 2: FARMER LOADING ]</a:t>
            </a:r>
            <a:br/>
            <a:br/>
            <a:r>
              <a:t>🔴 Problem: Fragmented transport; farmer pays ₹4/kg freight alone with 18-22% spoilage.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233172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[ PHOTO 3: WEIGHING SCALE ]</a:t>
            </a:r>
            <a:br/>
            <a:br/>
            <a:r>
              <a:t>🔴 Problem: Manual dial scales cause arbitrary weight cuts &amp; subjective grading disputes.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3931920"/>
            <a:ext cx="233172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</a:defRPr>
            </a:pPr>
            <a:r>
              <a:t>[ PHOTO 4: WITH MANDI SETH ]</a:t>
            </a:r>
            <a:br/>
            <a:br/>
            <a:r>
              <a:t>🔴 Problem: Interviews proved 55%+ smallholders use basic 2G keypad phones; excluded by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280160"/>
            <a:ext cx="55165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300">
                <a:solidFill>
                  <a:srgbClr val="065F46"/>
                </a:solidFill>
              </a:defRPr>
            </a:pPr>
            <a:r>
              <a:t>💡 IDEA: MITTI2MARKET DEMAND-DRIVEN POOLING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📋 Proposed Solution:</a:t>
            </a:r>
            <a:br/>
            <a:r>
              <a:t>Reverses the supply chain from 'Supply-Push' (dumping at mandis) to 'Demand-Pull'. Aggregates 3-5 smallholders (100-300kg) into one 1,000kg institutional B2B order with cold-chain farm-gate pickup.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🎯 Direct 1-to-1 Mapping to Ground Mandi Problems:</a:t>
            </a:r>
            <a:br/>
            <a:r>
              <a:t>1. Mandi Bill 42% Cut ➔ 0% Commission (80-85% Direct Farmer Payout)</a:t>
            </a:r>
            <a:br/>
            <a:r>
              <a:t>2. Loading Freight ➔ Consolidated CVRP Truck (Farmer pays ₹0 Freight)</a:t>
            </a:r>
            <a:br/>
            <a:r>
              <a:t>3. Weighing Disputes ➔ IoT Bluetooth Scale + Edge YOLOv8 AI QC</a:t>
            </a:r>
            <a:br/>
            <a:r>
              <a:t>4. 55% Digital Barrier ➔ Pure Hindi/Gujarati Voice IVR on Keypad Phones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✨ Key Innovation &amp; Uniqueness:</a:t>
            </a:r>
            <a:br/>
            <a:r>
              <a:t>• Dual-Channel Telephony: Keypad phones get Hindi IVR; smartphones get app alerts.</a:t>
            </a:r>
            <a:br/>
            <a:r>
              <a:t>• Dynamic Standby Reserve: Auto-replaces dropouts to guarantee 100% order quota.</a:t>
            </a:r>
            <a:br/>
            <a:r>
              <a:t>• Smart Milestone Escrow: 70% released at farm gate; 30% on doorstep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500">
                <a:solidFill>
                  <a:srgbClr val="065F46"/>
                </a:solidFill>
              </a:defRPr>
            </a:pPr>
            <a:r>
              <a:t>SLIDE 3: TECHNICAL APPROACH &amp; IMPLEMENTATION METHODOLOGY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System Architecture, Technologies, Hardware &amp; 4 Core Algorithmic AI Engines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65F46"/>
                </a:solidFill>
              </a:defRPr>
            </a:pPr>
            <a:r>
              <a:t>🔄 5-STEP IMPLEMENTATION METHODOLOGY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1. BUYER REQUISITION:</a:t>
            </a:r>
            <a:br/>
            <a:r>
              <a:t>Institutional buyer posts crop, target volume (1,000kg), and time window. Pre-filled via AI Demand Forecast.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2. MITTIMATCH BI-GRAPH AGGREGATION:</a:t>
            </a:r>
            <a:br/>
            <a:r>
              <a:t>Kuhn-Munkres bipartite matching solver scans 15 regional smallholders within 15km cluster and optimizes quotas.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3. DUAL-CHANNEL CONSENT DISPATCH:</a:t>
            </a:r>
            <a:br/>
            <a:r>
              <a:t>Simultaneously fires Smartphone App Push Alert AND 2G Keypad Phone Hindi Voice IVR Call (Press 1 to Accept, 2 to Reject).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4. MULTI-STOP COLD-CHAIN COLLECTION:</a:t>
            </a:r>
            <a:br/>
            <a:r>
              <a:t>Single refrigerated truck follows Clarke-Wright CVRP route with IoT digital Bluetooth scale weighing and on-truck YOLOv8 defect scan.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5. DUAL-MILESTONE ESCROW SETTLEMENT:</a:t>
            </a:r>
            <a:br/>
            <a:r>
              <a:t>70% locked deposit released immediately at farm gate; 30% released upon buyer doorstep acceptance.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5165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65F46"/>
                </a:solidFill>
              </a:defRPr>
            </a:pPr>
            <a:r>
              <a:t>💻 TECHNOLOGIES, HARDWARE &amp; 4 AI ENGINES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🛠️ Technologies &amp; Hardware Used:</a:t>
            </a:r>
            <a:br/>
            <a:r>
              <a:t>• Frontend: React 18, TypeScript, Tailwind CSS, Leaflet GIS Maps</a:t>
            </a:r>
            <a:br/>
            <a:r>
              <a:t>• Telephony &amp; Audio: Twilio / Asterisk PBX, DTMF decoder, gTTS Hindi/Gujarati</a:t>
            </a:r>
            <a:br/>
            <a:r>
              <a:t>• Hardware: 2G Feature Phones, Android Smartphones, Bluetooth Digital Scales</a:t>
            </a:r>
            <a:br/>
            <a:r>
              <a:t>• Edge ML Runtime: TFLite (INT8 Quantized, 100% Offline-Capable)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🧠 4 Core Production AI Engines:</a:t>
            </a:r>
            <a:br/>
            <a:r>
              <a:t>1. MittiForecaster (LSTM + LightGBM Regressor):</a:t>
            </a:r>
            <a:br/>
            <a:r>
              <a:t>   Predicts 7-day wholesale APMC spot prices &amp; cluster deficits (R²=94.8%).</a:t>
            </a:r>
            <a:br/>
            <a:r>
              <a:t>2. MittiMatch (Hungarian Bi-Partite Graph Matching):</a:t>
            </a:r>
            <a:br/>
            <a:r>
              <a:t>   Solves Pareto-optimal smallholder pooling with +-10% buyer tolerance.</a:t>
            </a:r>
            <a:br/>
            <a:r>
              <a:t>3. MittiRoute (Perishable CVRP-TW Optimizer):</a:t>
            </a:r>
            <a:br/>
            <a:r>
              <a:t>   Clarke-Wright savings heuristic cutting 37.3% travel km and 0% spoilage.</a:t>
            </a:r>
            <a:br/>
            <a:r>
              <a:t>4. MittiVision (Edge YOLOv8-Nano):</a:t>
            </a:r>
            <a:br/>
            <a:r>
              <a:t>   24ms mobile defect segmentation and automated Agmark digital stamping.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500">
                <a:solidFill>
                  <a:srgbClr val="065F46"/>
                </a:solidFill>
              </a:defRPr>
            </a:pPr>
            <a:r>
              <a:t>SLIDE 4: FEASIBILITY, VIABILITY &amp; RISK MITIGATION MATRIX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Ground Feasibility Analysis and Engineering Mitigations for Rural Agricultural Realities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65F46"/>
                </a:solidFill>
              </a:defRPr>
            </a:pPr>
            <a:r>
              <a:t>📊 3 FEASIBILITY &amp; VIABILITY PILLARS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⚙️ TECHNICAL FEASIBILITY:</a:t>
            </a:r>
            <a:br/>
            <a:r>
              <a:t>• Built on ubiquitous 2G telecom voice networks (99.8% rural reach).</a:t>
            </a:r>
            <a:br/>
            <a:r>
              <a:t>• Edge AI models are quantized to INT8; run offline on mobile CPUs with ZERO cloud dependency in remote fields.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💰 ECONOMIC VIABILITY:</a:t>
            </a:r>
            <a:br/>
            <a:r>
              <a:t>• Self-sustaining commercial model: 2% facilitation fee + flat ₹1.0/kg freight paid by institutional buyers.</a:t>
            </a:r>
            <a:br/>
            <a:r>
              <a:t>• Smallholders pay ₹0 platform fee and ₹0 freight cost.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👨‍🌾 OPERATIONAL &amp; BEHAVIORAL FIT:</a:t>
            </a:r>
            <a:br/>
            <a:r>
              <a:t>• Zero behavioral change required for smallholders. Farmers do not need to download apps or read English—they simply answer their phone and press '1' to accept.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5165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200">
                <a:solidFill>
                  <a:srgbClr val="065F46"/>
                </a:solidFill>
              </a:defRPr>
            </a:pPr>
            <a:r>
              <a:t>🛡️ RISK ANALYSIS &amp; MITIGATION MATRIX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🔴 Risk 1: Low Literacy &amp; Feature Phone Usage (High)</a:t>
            </a:r>
            <a:br/>
            <a:r>
              <a:t>🟢 Mitigation: Pure vernacular voice IVR (Hindi/Gujarati) requiring only keypad number presses (1 Accept, 2 Reject).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🔴 Risk 2: Farmer Dropout or Gate Shortfall (Medium)</a:t>
            </a:r>
            <a:br/>
            <a:r>
              <a:t>🟢 Mitigation: Dynamic Standby Reserve. Algorithm automatically pre-allocates backup farmers to fulfill shortfalls instantly.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🔴 Risk 3: Produce Quality &amp; Weighing Disputes (High)</a:t>
            </a:r>
            <a:br/>
            <a:r>
              <a:t>🟢 Mitigation: IoT digital Bluetooth scales and on-truck YOLOv8 camera inspection with pre-agreed contract rate adjustments.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🔴 Risk 4: Buyer Payment Default (High)</a:t>
            </a:r>
            <a:br/>
            <a:r>
              <a:t>🟢 Mitigation: Mandatory 70% smart escrow vault deposit locked before collection truck departs.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500">
                <a:solidFill>
                  <a:srgbClr val="065F46"/>
                </a:solidFill>
              </a:defRPr>
            </a:pPr>
            <a:r>
              <a:t>SLIDE 5: IMPACT &amp; QUANTIFIABLE BENEFITS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Direct Socio-Economic Transformation and Supply Chain Decarbonization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200">
                <a:solidFill>
                  <a:srgbClr val="065F46"/>
                </a:solidFill>
              </a:defRPr>
            </a:pPr>
            <a:r>
              <a:t>+45.0%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Farmer Net Income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Farmer share: 35% -&gt; 85%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200">
                <a:solidFill>
                  <a:srgbClr val="065F46"/>
                </a:solidFill>
              </a:defRPr>
            </a:pPr>
            <a:r>
              <a:t>SAME-DAY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Direct Bank Credit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70% Gate / 30%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200">
                <a:solidFill>
                  <a:srgbClr val="065F46"/>
                </a:solidFill>
              </a:defRPr>
            </a:pPr>
            <a:r>
              <a:t>-37.3%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Transport Mileage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-43.4% Carbon Emissions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280160"/>
            <a:ext cx="260604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b="1" sz="2200">
                <a:solidFill>
                  <a:srgbClr val="065F46"/>
                </a:solidFill>
              </a:defRPr>
            </a:pPr>
            <a:r>
              <a:t>&lt; 2.0%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Produce Spoilage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Down from 22% decay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530352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100">
                <a:solidFill>
                  <a:srgbClr val="065F46"/>
                </a:solidFill>
              </a:defRPr>
            </a:pPr>
            <a:r>
              <a:t>👨‍🌾 SOCIO-ECONOMIC BENEFITS (FARMER &amp; BUYER)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Smallholder Income Jump: Shifting farmer realization from 35% to 85% transforms marginal livelihoods.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₹0 Logistics Cost: Farmers pay zero transport expenses; saves ₹4-5/kg in freight.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Eliminates Debt Traps: Same-day escrow eliminates chronic 45-day informal commission agent credit delay.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Buyer Savings: Institutional buyers save 12-18% by eliminating mandi cess and multi-tier trader markups.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551657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b="1" sz="1100">
                <a:solidFill>
                  <a:srgbClr val="065F46"/>
                </a:solidFill>
              </a:defRPr>
            </a:pPr>
            <a:r>
              <a:t>🌱 SOCIAL INCLUSION &amp; SUPPLY CHAIN EFFICIENCY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100% Digital Inclusion: Basic keypad phone integration ensures non-literate farmers are never left behind.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Food Waste Reduction: Rapid 90-minute cold-chain transit drops perishable loss from 22% to under 2%.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Decarbonized Rural Transit: Multi-stop CVRP vehicle eliminates multiple single-farmer tractor runs, cutting 43% CO2.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Transparent Commerce: Cryptographic Agmark digital seals and itemized SMS receipts for every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500">
                <a:solidFill>
                  <a:srgbClr val="065F46"/>
                </a:solidFill>
              </a:defRPr>
            </a:pPr>
            <a:r>
              <a:t>SLIDE 6: RESEARCH REFERENCES &amp; PROTOTYPE VERIFICATION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Primary Ground Field Survey, 6 Academic Citations &amp; Live Prototype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00">
                <a:solidFill>
                  <a:srgbClr val="065F46"/>
                </a:solidFill>
              </a:defRPr>
            </a:pPr>
            <a:r>
              <a:t>📚 REFERENCES &amp; RESEARCH CITATIONS (WITH LINKS)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📍 Primary Field Survey: Surat APMC Mandi Yard, Gujarat (Interviewed Mandi Seth, weighmen &amp; smallholders; verified 42% cuts).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1. Ministry of Agriculture, GoI: Committee on Doubling Farmers' Income (DFI Report, Vol. IV)</a:t>
            </a:r>
            <a:br/>
            <a:r>
              <a:t>   🔗 agricoop.nic.in/en/doubling-farmers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2. ICAR-CIPHET National Study on Post-Harvest Losses of Agricultural Produce</a:t>
            </a:r>
            <a:br/>
            <a:r>
              <a:t>   🔗 ciphet.icar.gov.in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3. Agmarknet Official APMC Mandi Daily Price &amp; Arrival Database (DMI)</a:t>
            </a:r>
            <a:br/>
            <a:r>
              <a:t>   🔗 agmarknet.gov.in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4. Kuhn-Munkres Bipartite Matching Algorithm: Kuhn (1955), Naval Research Logistics</a:t>
            </a:r>
            <a:br/>
            <a:r>
              <a:t>   🔗 doi.org/10.1002/nav.3800020109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5. Clarke &amp; Wright Vehicle Routing (CVRP): Clarke &amp; Wright (1964), Operations Research</a:t>
            </a:r>
            <a:br/>
            <a:r>
              <a:t>   🔗 doi.org/10.1287/opre.12.4.568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6. Perishable Food Quality Decay Kinetics: Tijskens &amp; Polderdijk (1996), Postharvest Bio.</a:t>
            </a:r>
            <a:br/>
            <a:r>
              <a:t>   🔗 doi.org/10.1016/0925-5214(96)00008-0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280160"/>
            <a:ext cx="5516575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defRPr b="1" sz="1100">
                <a:solidFill>
                  <a:srgbClr val="065F46"/>
                </a:solidFill>
              </a:defRPr>
            </a:pPr>
            <a:r>
              <a:t>📱 PROTOTYPE SCREENSHOTS (PASTE IMAGES HERE)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251460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[SCREEN 1: BUYER PORTAL]</a:t>
            </a:r>
            <a:br/>
            <a:br/>
            <a:r>
              <a:t>AI Demand Forecaster &amp; Radar Map</a:t>
            </a:r>
            <a:br/>
            <a:r>
              <a:t>(Paste screenshot)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737360"/>
            <a:ext cx="251460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[SCREEN 2: DEVICE SIMULATORS]</a:t>
            </a:r>
            <a:br/>
            <a:br/>
            <a:r>
              <a:t>Smartphone Alert &amp; Keypad Hindi IVR</a:t>
            </a:r>
            <a:br/>
            <a:r>
              <a:t>(Paste screenshot)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657600"/>
            <a:ext cx="251460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[SCREEN 3: LOGISTICS &amp; QC]</a:t>
            </a:r>
            <a:br/>
            <a:br/>
            <a:r>
              <a:t>Moving Truck Map &amp; YOLOv8 Produce Scan</a:t>
            </a:r>
            <a:br/>
            <a:r>
              <a:t>(Paste screenshot)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3657600"/>
            <a:ext cx="2514600" cy="1783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[SCREEN 4: AI ARCHITECTURE]</a:t>
            </a:r>
            <a:br/>
            <a:br/>
            <a:r>
              <a:t>Top Bar 4-Model Stack &amp; Tensor Playground</a:t>
            </a:r>
            <a:br/>
            <a:r>
              <a:t>(Paste screenshot)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897880"/>
            <a:ext cx="11094415" cy="640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🌐 LIVE PROTOTYPE: https://your-app.vercel.app  •  💻 GITHUB: https://github.com/himanikapadia/SIH26033-Mitti2Market  •  ⚡ INCLUDES 1-CLICK 90-SEC AUTO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